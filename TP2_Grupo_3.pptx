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971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31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407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786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41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808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59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65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877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290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D8561FD-8F6D-4AC5-8872-FB4B04B38E99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DFC3FF0-2424-40CB-A7F9-9CEF7C993A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079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5D9BE-6116-94D5-F8CE-015F5E6C3B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TP2: LIMPIEZA EPH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BF8F57-B9CA-8510-9C13-B345DAAC0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Máximo Hernán Gómez</a:t>
            </a:r>
          </a:p>
          <a:p>
            <a:r>
              <a:rPr lang="es-ES" dirty="0"/>
              <a:t>Franco Andrés </a:t>
            </a:r>
            <a:r>
              <a:rPr lang="es-ES" dirty="0" err="1"/>
              <a:t>Marelli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1326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ECA96D-7516-9869-90DD-C8AF464D0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r>
              <a:rPr lang="es-ES" sz="2000" dirty="0">
                <a:solidFill>
                  <a:srgbClr val="FFFFFF"/>
                </a:solidFill>
              </a:rPr>
              <a:t>INFORMALIDAD SEGÚN INDEC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A1AF6-F6B1-6BD7-D9DF-E10FE6F01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s-ES" sz="2000" dirty="0"/>
              <a:t>Un empleo es informal si el trabajador es un asalariado que no tiene descuento jubilatorio (es decir, no tiene cobertura de seguridad social).</a:t>
            </a:r>
          </a:p>
          <a:p>
            <a:endParaRPr lang="es-ES" sz="2000" dirty="0"/>
          </a:p>
          <a:p>
            <a:r>
              <a:rPr lang="es-ES" sz="2000" dirty="0"/>
              <a:t> La tasa se calcula dividiendo la población ocupada informal por el total de la población ocupada, mostrando la proporción de trabajadores sin derechos laborales, obra social ni aportes jubilatorios</a:t>
            </a:r>
          </a:p>
        </p:txBody>
      </p:sp>
    </p:spTree>
    <p:extLst>
      <p:ext uri="{BB962C8B-B14F-4D97-AF65-F5344CB8AC3E}">
        <p14:creationId xmlns:p14="http://schemas.microsoft.com/office/powerpoint/2010/main" val="188204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BE5BF0-2B15-5052-EC4C-D21AE3E6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s-ES" sz="3000" dirty="0">
                <a:solidFill>
                  <a:srgbClr val="FFFFFF"/>
                </a:solidFill>
              </a:rPr>
              <a:t>Selección de variables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44ECE-FF21-883D-5F95-CC802F9B1AE6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91695" y="802433"/>
            <a:ext cx="5633032" cy="543041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REGION:  </a:t>
            </a:r>
            <a:r>
              <a:rPr lang="es-ES" sz="1600" dirty="0"/>
              <a:t>Código de región</a:t>
            </a:r>
            <a:endParaRPr lang="es-ES" sz="1600" b="1" dirty="0"/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PONDERA: </a:t>
            </a:r>
            <a:r>
              <a:rPr lang="es-ES" sz="1600" dirty="0"/>
              <a:t>Ponderación por aglomerado urbano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CH06:  </a:t>
            </a:r>
            <a:r>
              <a:rPr lang="es-ES" sz="1600" dirty="0"/>
              <a:t>Años cumplidos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CH07:  </a:t>
            </a:r>
            <a:r>
              <a:rPr lang="es-ES" sz="1600" dirty="0"/>
              <a:t>Estado civil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CH08:  </a:t>
            </a:r>
            <a:r>
              <a:rPr lang="es-ES" sz="1600" dirty="0"/>
              <a:t>Tipo de cobertura médica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NIVEL_ED:  </a:t>
            </a:r>
            <a:r>
              <a:rPr lang="es-ES" sz="1600" dirty="0"/>
              <a:t>Nivel de educación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ESTADO:  </a:t>
            </a:r>
            <a:r>
              <a:rPr lang="es-ES" sz="1600" dirty="0"/>
              <a:t>Condición de actividad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CAT_OCUP:  </a:t>
            </a:r>
            <a:r>
              <a:rPr lang="es-ES" sz="1600" dirty="0"/>
              <a:t>Categoría ocupacional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EMPLEO:  </a:t>
            </a:r>
            <a:r>
              <a:rPr lang="es-ES" sz="1600" dirty="0"/>
              <a:t>Formal/Informal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SECTOR:  </a:t>
            </a:r>
            <a:r>
              <a:rPr lang="es-ES" sz="1600" dirty="0"/>
              <a:t>Formal/Informal/Hogares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PP04C:  </a:t>
            </a:r>
            <a:r>
              <a:rPr lang="es-ES" sz="1600" dirty="0"/>
              <a:t>Número de trabajadores en ocupación principal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PP04D_COD:  </a:t>
            </a:r>
            <a:r>
              <a:rPr lang="es-ES" sz="1600" dirty="0"/>
              <a:t>Código de ocupación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P21:  </a:t>
            </a:r>
            <a:r>
              <a:rPr lang="es-ES" sz="1600" dirty="0"/>
              <a:t>Ingreso de ocupación principal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P47T:  </a:t>
            </a:r>
            <a:r>
              <a:rPr lang="es-ES" sz="1600" dirty="0"/>
              <a:t>Ingresos totales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PP04G:  </a:t>
            </a:r>
            <a:r>
              <a:rPr lang="es-ES" sz="1600" dirty="0"/>
              <a:t>Lugar habitual de trabajo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1600" b="1" dirty="0"/>
              <a:t>PP04A: </a:t>
            </a:r>
            <a:r>
              <a:rPr lang="es-ES" sz="1600" dirty="0" err="1"/>
              <a:t>Ocup</a:t>
            </a:r>
            <a:r>
              <a:rPr lang="es-ES" sz="1600" dirty="0"/>
              <a:t>. </a:t>
            </a:r>
            <a:r>
              <a:rPr lang="es-ES" sz="1600" dirty="0" err="1"/>
              <a:t>Princ</a:t>
            </a:r>
            <a:r>
              <a:rPr lang="es-ES" sz="1600" dirty="0"/>
              <a:t>. Publico/Privada</a:t>
            </a:r>
          </a:p>
          <a:p>
            <a:pPr marL="0" indent="0">
              <a:spcBef>
                <a:spcPts val="600"/>
              </a:spcBef>
              <a:buNone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87497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6B1D2-B083-3916-2974-C5225B5E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Limpieza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C9E7E-EB0E-2C00-812A-3634417D9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Se evaluaron las columnas “P21”, “P47T” Y “CH06”, Ingreso de ocupación principal, ingresos totales y años cumplidos</a:t>
            </a:r>
          </a:p>
          <a:p>
            <a:endParaRPr lang="es-ES" sz="2000" dirty="0"/>
          </a:p>
          <a:p>
            <a:r>
              <a:rPr lang="es-ES" sz="2000" dirty="0"/>
              <a:t>Las 3 variables presentaron valores negativos, los ingresos por el código “-9”, que indica no respuesta, y en caso de la edad por “-1” </a:t>
            </a:r>
          </a:p>
          <a:p>
            <a:endParaRPr lang="es-ES" sz="2000" dirty="0"/>
          </a:p>
          <a:p>
            <a:r>
              <a:rPr lang="es-ES" sz="2000" dirty="0"/>
              <a:t>Se solucionó </a:t>
            </a:r>
            <a:r>
              <a:rPr lang="es-ES" sz="2000" dirty="0" err="1"/>
              <a:t>reemplazandolos</a:t>
            </a:r>
            <a:r>
              <a:rPr lang="es-ES" sz="2000" dirty="0"/>
              <a:t> por </a:t>
            </a:r>
            <a:r>
              <a:rPr lang="es-ES" sz="2000" dirty="0" err="1"/>
              <a:t>NaN</a:t>
            </a:r>
            <a:r>
              <a:rPr lang="es-ES" sz="2000" dirty="0"/>
              <a:t>, utilizando la función </a:t>
            </a:r>
            <a:r>
              <a:rPr lang="es-ES" sz="2000" dirty="0" err="1"/>
              <a:t>mask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12614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84FCD5C-7443-4EBD-B37B-EAB86BF09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920" y="804334"/>
            <a:ext cx="10550161" cy="510226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E9B40-C467-4CDE-8CC1-38533731D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968883"/>
            <a:ext cx="10222992" cy="4773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3865DE-2B0B-FE75-4F7A-86A14FF7C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29" y="1324948"/>
            <a:ext cx="10060837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62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A381D-C8FE-1DE7-AC0A-10437FBE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703435"/>
            <a:ext cx="7729728" cy="1188720"/>
          </a:xfrm>
        </p:spPr>
        <p:txBody>
          <a:bodyPr/>
          <a:lstStyle/>
          <a:p>
            <a:r>
              <a:rPr lang="es-ES" dirty="0" err="1"/>
              <a:t>Heatmap</a:t>
            </a:r>
            <a:r>
              <a:rPr lang="es-ES" dirty="0"/>
              <a:t> – DATOS NULOS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5DD541-319E-FF82-B023-F3553B8CE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20" y="2247537"/>
            <a:ext cx="7647160" cy="441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4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3CBA0-DC5B-A1C5-043C-DDBCF0EA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1221"/>
            <a:ext cx="7729728" cy="1188720"/>
          </a:xfrm>
        </p:spPr>
        <p:txBody>
          <a:bodyPr/>
          <a:lstStyle/>
          <a:p>
            <a:r>
              <a:rPr lang="es-ES" dirty="0"/>
              <a:t>SUBBASES – </a:t>
            </a:r>
            <a:r>
              <a:rPr lang="es-ES" sz="1200" dirty="0"/>
              <a:t>respondieron, no respondieron y ocupados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9C18E28-F2AA-61EE-78DA-215EB5AB5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2532"/>
            <a:ext cx="12192000" cy="28971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3A72641-1596-F7E0-487B-32ADF0666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2232"/>
            <a:ext cx="12192000" cy="293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F8431EF0-F78D-5B80-23FB-D86FE2E76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278"/>
            <a:ext cx="12153656" cy="278092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BAC3037-6BF0-A31D-49A7-349E599F9A40}"/>
              </a:ext>
            </a:extLst>
          </p:cNvPr>
          <p:cNvSpPr txBox="1"/>
          <p:nvPr/>
        </p:nvSpPr>
        <p:spPr>
          <a:xfrm>
            <a:off x="1239520" y="4439920"/>
            <a:ext cx="9773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Se puede observar como cuando ESTADO = 0, arrastra la nulidad de las variables siguientes </a:t>
            </a:r>
          </a:p>
        </p:txBody>
      </p:sp>
    </p:spTree>
    <p:extLst>
      <p:ext uri="{BB962C8B-B14F-4D97-AF65-F5344CB8AC3E}">
        <p14:creationId xmlns:p14="http://schemas.microsoft.com/office/powerpoint/2010/main" val="50747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720BEE-2645-27C3-4463-09357AB7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s-ES" sz="2000" dirty="0">
                <a:solidFill>
                  <a:srgbClr val="FFFFFF"/>
                </a:solidFill>
              </a:rPr>
              <a:t>PRIMER ANÁLISIS EXPLORATORIO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12F9D-4CD3-4759-ABDC-786EF857B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dirty="0"/>
              <a:t>Objetivos</a:t>
            </a:r>
          </a:p>
          <a:p>
            <a:r>
              <a:rPr lang="es-ES" sz="2400" dirty="0"/>
              <a:t>Comparar datos de la EPH</a:t>
            </a:r>
          </a:p>
          <a:p>
            <a:r>
              <a:rPr lang="es-ES" sz="2400" dirty="0"/>
              <a:t>Analizar cambios entre 2024 y 2025</a:t>
            </a:r>
          </a:p>
          <a:p>
            <a:r>
              <a:rPr lang="es-ES" sz="2400" dirty="0"/>
              <a:t>Foco en ingresos, empleo y variables demográficas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287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5574C-9183-777D-6C15-4B5DCF1C4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343" y="1444753"/>
            <a:ext cx="437943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VARIABLES SELECCIONADAS Y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86C22-7E3F-A0BB-D724-03D14A9E22A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5999" y="1361440"/>
            <a:ext cx="4816392" cy="414528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SECTOR, ESTADO, CAT_OCUP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P21 (Ingreso principal), P47T (Ingreso total)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NIVEL_ED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CH04, CH06, CH07, CH08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descriptivo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Comparación entre períodos</a:t>
            </a:r>
          </a:p>
        </p:txBody>
      </p:sp>
    </p:spTree>
    <p:extLst>
      <p:ext uri="{BB962C8B-B14F-4D97-AF65-F5344CB8AC3E}">
        <p14:creationId xmlns:p14="http://schemas.microsoft.com/office/powerpoint/2010/main" val="2455466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8F677-B3E9-7203-DE67-0F06B99B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77012"/>
            <a:ext cx="7729728" cy="1188720"/>
          </a:xfrm>
        </p:spPr>
        <p:txBody>
          <a:bodyPr/>
          <a:lstStyle/>
          <a:p>
            <a:r>
              <a:rPr lang="es-ES" dirty="0"/>
              <a:t>ANALISIS DE CORRELACIÓN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3B6455-5065-72F5-D8E3-425BAD9D0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3" t="19169" r="4337"/>
          <a:stretch>
            <a:fillRect/>
          </a:stretch>
        </p:blipFill>
        <p:spPr>
          <a:xfrm>
            <a:off x="0" y="2243660"/>
            <a:ext cx="5669280" cy="46894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459EAD-7BBB-A5EE-9F8B-769CB11B6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4" t="20580" r="2338" b="-161"/>
          <a:stretch>
            <a:fillRect/>
          </a:stretch>
        </p:blipFill>
        <p:spPr>
          <a:xfrm>
            <a:off x="5598160" y="2253096"/>
            <a:ext cx="64516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7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6A55E-8ED9-A061-10D7-BD532A3D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CONOCIENDO LA INFORMALIDAD LABORAL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E82580-EA81-743C-0F40-A7BB5BC9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Definición de informalidad según </a:t>
            </a:r>
            <a:r>
              <a:rPr lang="es-ES" sz="2000" dirty="0" err="1"/>
              <a:t>Maurizo</a:t>
            </a:r>
            <a:r>
              <a:rPr lang="es-ES" sz="2000" dirty="0"/>
              <a:t> &amp; Monsalvo (2021)</a:t>
            </a:r>
          </a:p>
          <a:p>
            <a:endParaRPr lang="es-ES" sz="2000" dirty="0"/>
          </a:p>
          <a:p>
            <a:r>
              <a:rPr lang="es-ES" sz="2000" dirty="0"/>
              <a:t>Propietarios en empresas de hasta cinco empleados, trabajadores por cuenta propia no profesionales y trabajadores familiares no remunerados.</a:t>
            </a:r>
          </a:p>
        </p:txBody>
      </p:sp>
    </p:spTree>
    <p:extLst>
      <p:ext uri="{BB962C8B-B14F-4D97-AF65-F5344CB8AC3E}">
        <p14:creationId xmlns:p14="http://schemas.microsoft.com/office/powerpoint/2010/main" val="274805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268B2A-54E0-3688-47C6-94778C39E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565404"/>
            <a:ext cx="7729728" cy="2863596"/>
          </a:xfrm>
        </p:spPr>
        <p:txBody>
          <a:bodyPr/>
          <a:lstStyle/>
          <a:p>
            <a:pPr marL="0" indent="0">
              <a:buNone/>
            </a:pPr>
            <a:r>
              <a:rPr lang="es-ES" sz="2000" dirty="0"/>
              <a:t>Criterios de informalidad según </a:t>
            </a:r>
            <a:r>
              <a:rPr lang="es-ES" sz="2000" dirty="0" err="1"/>
              <a:t>dataset</a:t>
            </a:r>
            <a:r>
              <a:rPr lang="es-ES" sz="2000" dirty="0"/>
              <a:t>:</a:t>
            </a:r>
          </a:p>
          <a:p>
            <a:r>
              <a:rPr lang="es-ES" sz="2000" dirty="0"/>
              <a:t>Propietarios en empresas de hasta cinco empleados: ocupado, patrón y </a:t>
            </a:r>
            <a:r>
              <a:rPr lang="es-ES" sz="2000" dirty="0" err="1"/>
              <a:t>Nª</a:t>
            </a:r>
            <a:r>
              <a:rPr lang="es-ES" sz="2000" dirty="0"/>
              <a:t> de trabajadores menor a 5.</a:t>
            </a:r>
          </a:p>
          <a:p>
            <a:r>
              <a:rPr lang="es-ES" sz="2000" dirty="0"/>
              <a:t>Trabajadores por cuenta propia no profesionales: ocupado, cuenta propia, secundario completo</a:t>
            </a:r>
          </a:p>
          <a:p>
            <a:r>
              <a:rPr lang="es-ES" sz="2000" dirty="0"/>
              <a:t>Trabajadores familiares no remunerados: ocupado, trabajador familiar sin remuneración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AE513F-65B8-66A2-D952-F99FEA0FDCCA}"/>
              </a:ext>
            </a:extLst>
          </p:cNvPr>
          <p:cNvSpPr txBox="1"/>
          <p:nvPr/>
        </p:nvSpPr>
        <p:spPr>
          <a:xfrm>
            <a:off x="640080" y="3352800"/>
            <a:ext cx="2157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Resultado de tabla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1DF34D-FD66-AECE-E6DB-1B2821A03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3857268"/>
            <a:ext cx="10312400" cy="287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9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84FCD5C-7443-4EBD-B37B-EAB86BF09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920" y="804334"/>
            <a:ext cx="10550161" cy="510226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E9B40-C467-4CDE-8CC1-38533731D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968883"/>
            <a:ext cx="10222992" cy="4773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D877C8-E646-7667-725E-BBA3D4263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08"/>
          <a:stretch>
            <a:fillRect/>
          </a:stretch>
        </p:blipFill>
        <p:spPr>
          <a:xfrm>
            <a:off x="1304543" y="1645921"/>
            <a:ext cx="9670898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52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319F-2F8E-D9B8-46DB-AAC845195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1188720"/>
          </a:xfrm>
        </p:spPr>
        <p:txBody>
          <a:bodyPr/>
          <a:lstStyle/>
          <a:p>
            <a:r>
              <a:rPr lang="es-ES" dirty="0" err="1"/>
              <a:t>Visualizacion</a:t>
            </a:r>
            <a:r>
              <a:rPr lang="es-ES" dirty="0"/>
              <a:t> de distribución de ingresos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A3EE5A-322C-C93E-E119-0273B99BE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920" y="1286389"/>
            <a:ext cx="7884160" cy="557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56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9CC066-E87D-6DF8-798E-8820A558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HERRAMIENTAS DE LA 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B85D75-E9B4-F57B-D154-7B6AF2959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16" y="2482596"/>
            <a:ext cx="7712242" cy="29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66D6D-FC65-F7C9-B9C6-6DDAA2F9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056" y="453644"/>
            <a:ext cx="7729728" cy="2578805"/>
          </a:xfrm>
        </p:spPr>
        <p:txBody>
          <a:bodyPr>
            <a:normAutofit/>
          </a:bodyPr>
          <a:lstStyle/>
          <a:p>
            <a:r>
              <a:rPr lang="es-ES" dirty="0"/>
              <a:t>Para el caso de la parte 1, se utilizó la IA para obtener el formato genérico de las funciones de Python. El mejor resultado fue con Claude, debido a la precisión de su respuesta y la obediencia al </a:t>
            </a:r>
            <a:r>
              <a:rPr lang="es-ES" dirty="0" err="1"/>
              <a:t>prompt</a:t>
            </a:r>
            <a:r>
              <a:rPr lang="es-ES" dirty="0"/>
              <a:t>.</a:t>
            </a:r>
          </a:p>
          <a:p>
            <a:r>
              <a:rPr lang="es-AR" dirty="0"/>
              <a:t>Para la parte 2, la herramienta Gemini 2.5 Flash la utilizamos como apoyo para completar y corregir algunas líneas de código.</a:t>
            </a:r>
          </a:p>
          <a:p>
            <a:r>
              <a:rPr lang="es-AR" dirty="0"/>
              <a:t>La mayor ayuda de la IA se produjo en la parte 3, donde sirvió para pasar a código las condiciones de formalidad e informalidad.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F92791-C044-90DF-3000-CEBCC76A2BFD}"/>
              </a:ext>
            </a:extLst>
          </p:cNvPr>
          <p:cNvSpPr txBox="1"/>
          <p:nvPr/>
        </p:nvSpPr>
        <p:spPr>
          <a:xfrm>
            <a:off x="1146110" y="3093098"/>
            <a:ext cx="9899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 de </a:t>
            </a:r>
            <a:r>
              <a:rPr lang="es-ES" dirty="0" err="1"/>
              <a:t>Prompt</a:t>
            </a:r>
            <a:r>
              <a:rPr lang="es-ES" dirty="0"/>
              <a:t> en Parte I</a:t>
            </a:r>
          </a:p>
          <a:p>
            <a:r>
              <a:rPr lang="es-ES" dirty="0"/>
              <a:t>“Utilizando, en caso de ser necesario, pandas, </a:t>
            </a:r>
            <a:r>
              <a:rPr lang="es-ES" dirty="0" err="1"/>
              <a:t>numpy</a:t>
            </a:r>
            <a:r>
              <a:rPr lang="es-ES" dirty="0"/>
              <a:t> y </a:t>
            </a:r>
            <a:r>
              <a:rPr lang="es-ES" dirty="0" err="1"/>
              <a:t>seaborn</a:t>
            </a:r>
            <a:r>
              <a:rPr lang="es-ES" dirty="0"/>
              <a:t>, dame una línea de código genérico en caso de querer cambiar el nombre de las columnas de un </a:t>
            </a:r>
            <a:r>
              <a:rPr lang="es-ES" dirty="0" err="1"/>
              <a:t>dataframe</a:t>
            </a:r>
            <a:r>
              <a:rPr lang="es-ES" dirty="0"/>
              <a:t>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6BB2AD-5226-A295-03F7-0DAF93D26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10" y="4058416"/>
            <a:ext cx="859274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39019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168</TotalTime>
  <Words>555</Words>
  <Application>Microsoft Office PowerPoint</Application>
  <PresentationFormat>Panorámica</PresentationFormat>
  <Paragraphs>64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Paquete</vt:lpstr>
      <vt:lpstr>TP2: LIMPIEZA EPH</vt:lpstr>
      <vt:lpstr>INFORMALIDAD SEGÚN INDEC</vt:lpstr>
      <vt:lpstr>Selección de variables</vt:lpstr>
      <vt:lpstr>Limpieza de datos</vt:lpstr>
      <vt:lpstr>Presentación de PowerPoint</vt:lpstr>
      <vt:lpstr>Heatmap – DATOS NULOS</vt:lpstr>
      <vt:lpstr>SUBBASES – respondieron, no respondieron y ocupados</vt:lpstr>
      <vt:lpstr>Presentación de PowerPoint</vt:lpstr>
      <vt:lpstr>PRIMER ANÁLISIS EXPLORATORIO</vt:lpstr>
      <vt:lpstr>VARIABLES SELECCIONADAS Y TRABAJO</vt:lpstr>
      <vt:lpstr>ANALISIS DE CORRELACIÓN</vt:lpstr>
      <vt:lpstr>CONOCIENDO LA INFORMALIDAD LABORAL</vt:lpstr>
      <vt:lpstr>Presentación de PowerPoint</vt:lpstr>
      <vt:lpstr>Presentación de PowerPoint</vt:lpstr>
      <vt:lpstr>Visualizacion de distribución de ingresos</vt:lpstr>
      <vt:lpstr>HERRAMIENTAS DE LA IA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Cerrar Cuenta</dc:creator>
  <cp:lastModifiedBy>Cerrar Cuenta</cp:lastModifiedBy>
  <cp:revision>1</cp:revision>
  <dcterms:created xsi:type="dcterms:W3CDTF">2026-04-10T05:18:59Z</dcterms:created>
  <dcterms:modified xsi:type="dcterms:W3CDTF">2026-04-10T08:07:35Z</dcterms:modified>
</cp:coreProperties>
</file>